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512" y="2455515"/>
            <a:ext cx="2466975" cy="323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45656" y="2969865"/>
            <a:ext cx="5500687" cy="670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Space Grotesk"/>
              </a:rPr>
              <a:t>Database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0" y="3830835"/>
            <a:ext cx="6477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A focused executive overview of modern database management systems, data structures, and core transactional integrity.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367" y="2019300"/>
            <a:ext cx="4723507" cy="36195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19125" y="1876425"/>
            <a:ext cx="5773042" cy="847725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" y="2895600"/>
            <a:ext cx="5773042" cy="847725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125" y="3914775"/>
            <a:ext cx="5773042" cy="847725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" y="4933950"/>
            <a:ext cx="5773042" cy="847725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3192" y="2143125"/>
            <a:ext cx="4475857" cy="33718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9125" y="2714625"/>
            <a:ext cx="577304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0625" y="2057400"/>
            <a:ext cx="500151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F8FAFC"/>
                </a:solidFill>
                <a:latin typeface="Plus Jakarta Sans SemiBold"/>
              </a:rPr>
              <a:t>Data Abstraction:</a:t>
            </a:r>
            <a:r>
              <a:rPr b="0" sz="1275" i="0" u="none">
                <a:solidFill>
                  <a:srgbClr val="CBD5E1"/>
                </a:solidFill>
                <a:latin typeface="Plus Jakarta Sans"/>
              </a:rPr>
              <a:t> Encapsulates internal file organization behind intuitive, multi-level schema views.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125" y="3733800"/>
            <a:ext cx="577304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2050" y="3076575"/>
            <a:ext cx="5030092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F8FAFC"/>
                </a:solidFill>
                <a:latin typeface="Plus Jakarta Sans SemiBold"/>
              </a:rPr>
              <a:t>Integrity &amp; Security:</a:t>
            </a:r>
            <a:r>
              <a:rPr b="0" sz="1275" i="0" u="none">
                <a:solidFill>
                  <a:srgbClr val="CBD5E1"/>
                </a:solidFill>
                <a:latin typeface="Plus Jakarta Sans"/>
              </a:rPr>
              <a:t> Enforces declarative constraints, centralized access rules, and encryption.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125" y="4752975"/>
            <a:ext cx="577304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9675" y="4095750"/>
            <a:ext cx="498246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F8FAFC"/>
                </a:solidFill>
                <a:latin typeface="Plus Jakarta Sans SemiBold"/>
              </a:rPr>
              <a:t>Concurrency Control:</a:t>
            </a:r>
            <a:r>
              <a:rPr b="0" sz="1275" i="0" u="none">
                <a:solidFill>
                  <a:srgbClr val="CBD5E1"/>
                </a:solidFill>
                <a:latin typeface="Plus Jakarta Sans"/>
              </a:rPr>
              <a:t> Coordinates simultaneous read/write operations without data corruption.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125" y="5772150"/>
            <a:ext cx="577304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2050" y="5114925"/>
            <a:ext cx="5030092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F8FAFC"/>
                </a:solidFill>
                <a:latin typeface="Plus Jakarta Sans SemiBold"/>
              </a:rPr>
              <a:t>ACID Guarantees:</a:t>
            </a:r>
            <a:r>
              <a:rPr b="0" sz="1275" i="0" u="none">
                <a:solidFill>
                  <a:srgbClr val="CBD5E1"/>
                </a:solidFill>
                <a:latin typeface="Plus Jakarta Sans"/>
              </a:rPr>
              <a:t> Ensures all committed transactions remain durable and resilient against failures.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2081212"/>
            <a:ext cx="219075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3100387"/>
            <a:ext cx="19050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4119562"/>
            <a:ext cx="238125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5138737"/>
            <a:ext cx="190500" cy="2000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19125" y="542925"/>
            <a:ext cx="1150143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Space Grotesk"/>
              </a:rPr>
              <a:t>Core Principles of DBMS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562" y="3590925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8937" y="3629025"/>
            <a:ext cx="7429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Plus Jakarta Sans"/>
              </a:rPr>
              <a:t>https://cdn.arabsstock.com/uploads/images/281170/data-center-technology-infrastructure-cloud-thumbnail-281170.webp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8937" y="3829050"/>
            <a:ext cx="7429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arabsstock.com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125" y="542925"/>
            <a:ext cx="1150143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Space Grotesk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