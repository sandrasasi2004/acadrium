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320040"/>
          </a:xfrm>
          <a:prstGeom prst="rect">
            <a:avLst/>
          </a:prstGeom>
          <a:noFill/>
          <a:ln/>
        </p:spPr>
        <p:txBody>
          <a:bodyPr wrap="square" rtlCol="0" anchor="ctr"/>
          <a:lstStyle/>
          <a:p>
            <a:pPr indent="0" marL="0">
              <a:buNone/>
            </a:pPr>
            <a:r>
              <a:rPr lang="en-US" sz="1100" b="1" spc="200" kern="0" dirty="0">
                <a:solidFill>
                  <a:srgbClr val="1F4E79"/>
                </a:solidFill>
                <a:latin typeface="Calibri" pitchFamily="34" charset="0"/>
                <a:ea typeface="Calibri" pitchFamily="34" charset="-122"/>
                <a:cs typeface="Calibri" pitchFamily="34" charset="-120"/>
              </a:rPr>
              <a:t>NORMALIZATION AND DATA REDUNDANCY</a:t>
            </a:r>
            <a:endParaRPr lang="en-US" sz="1100" dirty="0"/>
          </a:p>
        </p:txBody>
      </p:sp>
      <p:sp>
        <p:nvSpPr>
          <p:cNvPr id="3" name="Text 1"/>
          <p:cNvSpPr txBox="1"/>
          <p:nvPr/>
        </p:nvSpPr>
        <p:spPr>
          <a:xfrm>
            <a:off x="11247120" y="292608"/>
            <a:ext cx="640080" cy="320040"/>
          </a:xfrm>
          <a:prstGeom prst="rect">
            <a:avLst/>
          </a:prstGeom>
          <a:noFill/>
          <a:ln/>
        </p:spPr>
        <p:txBody>
          <a:bodyPr wrap="square" rtlCol="0" anchor="ctr"/>
          <a:lstStyle/>
          <a:p>
            <a:pPr algn="r" indent="0" marL="0">
              <a:buNone/>
            </a:pPr>
            <a:r>
              <a:rPr lang="en-US" sz="1100" dirty="0">
                <a:solidFill>
                  <a:srgbClr val="999999"/>
                </a:solidFill>
                <a:latin typeface="Calibri" pitchFamily="34" charset="0"/>
                <a:ea typeface="Calibri" pitchFamily="34" charset="-122"/>
                <a:cs typeface="Calibri" pitchFamily="34" charset="-120"/>
              </a:rPr>
              <a:t>1 / 3</a:t>
            </a:r>
            <a:endParaRPr lang="en-US" sz="1100" dirty="0"/>
          </a:p>
        </p:txBody>
      </p:sp>
      <p:sp>
        <p:nvSpPr>
          <p:cNvPr id="4" name="Text 2"/>
          <p:cNvSpPr txBox="1"/>
          <p:nvPr/>
        </p:nvSpPr>
        <p:spPr>
          <a:xfrm>
            <a:off x="548640" y="621792"/>
            <a:ext cx="11064240" cy="868680"/>
          </a:xfrm>
          <a:prstGeom prst="rect">
            <a:avLst/>
          </a:prstGeom>
          <a:noFill/>
          <a:ln/>
        </p:spPr>
        <p:txBody>
          <a:bodyPr wrap="square" lIns="0" tIns="0" rIns="0" bIns="0" rtlCol="0" anchor="ctr"/>
          <a:lstStyle/>
          <a:p>
            <a:pPr indent="0" marL="0">
              <a:buNone/>
            </a:pPr>
            <a:r>
              <a:rPr lang="en-US" sz="2800" b="1" dirty="0">
                <a:solidFill>
                  <a:srgbClr val="1F4E79"/>
                </a:solidFill>
                <a:latin typeface="Cambria" pitchFamily="34" charset="0"/>
                <a:ea typeface="Cambria" pitchFamily="34" charset="-122"/>
                <a:cs typeface="Cambria" pitchFamily="34" charset="-120"/>
              </a:rPr>
              <a:t>Data Redundancy, Inconsistency and Anomalies</a:t>
            </a:r>
            <a:endParaRPr lang="en-US" sz="2800" dirty="0"/>
          </a:p>
        </p:txBody>
      </p:sp>
      <p:sp>
        <p:nvSpPr>
          <p:cNvPr id="5" name="Text 3"/>
          <p:cNvSpPr txBox="1"/>
          <p:nvPr/>
        </p:nvSpPr>
        <p:spPr>
          <a:xfrm>
            <a:off x="548640" y="1645920"/>
            <a:ext cx="11064240" cy="4846320"/>
          </a:xfrm>
          <a:prstGeom prst="rect">
            <a:avLst/>
          </a:prstGeom>
          <a:solidFill>
            <a:srgbClr val="EAF1F8"/>
          </a:solidFill>
          <a:ln w="9525">
            <a:solidFill>
              <a:srgbClr val="EAF1F8"/>
            </a:solidFill>
          </a:ln>
        </p:spPr>
        <p:txBody>
          <a:bodyPr wrap="square" lIns="177800" tIns="177800" rIns="177800" bIns="177800" rtlCol="0" anchor="t"/>
          <a:lstStyle/>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Data redundancy occurs when the same fact is stored more than once within a database, for example when a student's department name is repeated in every course record that the student enrols in instead of being stored a single time and referenced. Redundancy wastes storage space, but its more serious consequence is data inconsistency: if the department name is updated in one row but an identical copy elsewhere is missed, the database now contains two conflicting versions of the same fact, and no application can be certain which value is correct.</a:t>
            </a:r>
            <a:endParaRPr lang="en-US" sz="1650" dirty="0"/>
          </a:p>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Poorly structured tables that contain redundancy are vulnerable to three classic problems known as anomalies. An update anomaly forces the same change to be repeated in many rows, risking inconsistency if even one copy is overlooked. An insert anomaly makes it impossible to record a new fact, such as a newly opened department, until an unrelated fact, such as a student enrolled in it, is also available. A delete anomaly causes a useful fact to be lost unintentionally when the last row referencing it is removed, for example losing all record of a department because its only enrolled student withdrew.</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320040"/>
          </a:xfrm>
          <a:prstGeom prst="rect">
            <a:avLst/>
          </a:prstGeom>
          <a:noFill/>
          <a:ln/>
        </p:spPr>
        <p:txBody>
          <a:bodyPr wrap="square" rtlCol="0" anchor="ctr"/>
          <a:lstStyle/>
          <a:p>
            <a:pPr indent="0" marL="0">
              <a:buNone/>
            </a:pPr>
            <a:r>
              <a:rPr lang="en-US" sz="1100" b="1" spc="200" kern="0" dirty="0">
                <a:solidFill>
                  <a:srgbClr val="1F4E79"/>
                </a:solidFill>
                <a:latin typeface="Calibri" pitchFamily="34" charset="0"/>
                <a:ea typeface="Calibri" pitchFamily="34" charset="-122"/>
                <a:cs typeface="Calibri" pitchFamily="34" charset="-120"/>
              </a:rPr>
              <a:t>NORMALIZATION AND DATA REDUNDANCY</a:t>
            </a:r>
            <a:endParaRPr lang="en-US" sz="1100" dirty="0"/>
          </a:p>
        </p:txBody>
      </p:sp>
      <p:sp>
        <p:nvSpPr>
          <p:cNvPr id="3" name="Text 1"/>
          <p:cNvSpPr txBox="1"/>
          <p:nvPr/>
        </p:nvSpPr>
        <p:spPr>
          <a:xfrm>
            <a:off x="11247120" y="292608"/>
            <a:ext cx="640080" cy="320040"/>
          </a:xfrm>
          <a:prstGeom prst="rect">
            <a:avLst/>
          </a:prstGeom>
          <a:noFill/>
          <a:ln/>
        </p:spPr>
        <p:txBody>
          <a:bodyPr wrap="square" rtlCol="0" anchor="ctr"/>
          <a:lstStyle/>
          <a:p>
            <a:pPr algn="r" indent="0" marL="0">
              <a:buNone/>
            </a:pPr>
            <a:r>
              <a:rPr lang="en-US" sz="1100" dirty="0">
                <a:solidFill>
                  <a:srgbClr val="999999"/>
                </a:solidFill>
                <a:latin typeface="Calibri" pitchFamily="34" charset="0"/>
                <a:ea typeface="Calibri" pitchFamily="34" charset="-122"/>
                <a:cs typeface="Calibri" pitchFamily="34" charset="-120"/>
              </a:rPr>
              <a:t>2 / 3</a:t>
            </a:r>
            <a:endParaRPr lang="en-US" sz="1100" dirty="0"/>
          </a:p>
        </p:txBody>
      </p:sp>
      <p:sp>
        <p:nvSpPr>
          <p:cNvPr id="4" name="Text 2"/>
          <p:cNvSpPr txBox="1"/>
          <p:nvPr/>
        </p:nvSpPr>
        <p:spPr>
          <a:xfrm>
            <a:off x="548640" y="621792"/>
            <a:ext cx="11064240" cy="868680"/>
          </a:xfrm>
          <a:prstGeom prst="rect">
            <a:avLst/>
          </a:prstGeom>
          <a:noFill/>
          <a:ln/>
        </p:spPr>
        <p:txBody>
          <a:bodyPr wrap="square" lIns="0" tIns="0" rIns="0" bIns="0" rtlCol="0" anchor="ctr"/>
          <a:lstStyle/>
          <a:p>
            <a:pPr indent="0" marL="0">
              <a:buNone/>
            </a:pPr>
            <a:r>
              <a:rPr lang="en-US" sz="2800" b="1" dirty="0">
                <a:solidFill>
                  <a:srgbClr val="1F4E79"/>
                </a:solidFill>
                <a:latin typeface="Cambria" pitchFamily="34" charset="0"/>
                <a:ea typeface="Cambria" pitchFamily="34" charset="-122"/>
                <a:cs typeface="Cambria" pitchFamily="34" charset="-120"/>
              </a:rPr>
              <a:t>Introduction to Normalization and Its Benefits</a:t>
            </a:r>
            <a:endParaRPr lang="en-US" sz="2800" dirty="0"/>
          </a:p>
        </p:txBody>
      </p:sp>
      <p:sp>
        <p:nvSpPr>
          <p:cNvPr id="5" name="Text 3"/>
          <p:cNvSpPr txBox="1"/>
          <p:nvPr/>
        </p:nvSpPr>
        <p:spPr>
          <a:xfrm>
            <a:off x="548640" y="1645920"/>
            <a:ext cx="11064240" cy="4846320"/>
          </a:xfrm>
          <a:prstGeom prst="rect">
            <a:avLst/>
          </a:prstGeom>
          <a:solidFill>
            <a:srgbClr val="EAF1F8"/>
          </a:solidFill>
          <a:ln w="9525">
            <a:solidFill>
              <a:srgbClr val="EAF1F8"/>
            </a:solidFill>
          </a:ln>
        </p:spPr>
        <p:txBody>
          <a:bodyPr wrap="square" lIns="177800" tIns="177800" rIns="177800" bIns="177800" rtlCol="0" anchor="t"/>
          <a:lstStyle/>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Normalization is a systematic, step-by-step methodology for organising the attributes and tables of a relational database so that redundancy is minimised and the anomalies described above are eliminated or reduced. The technique works by decomposing a large table that mixes several unrelated facts into a set of smaller, well-structured tables, each of which is focused on a single theme, and by connecting those smaller tables back together using primary key and foreign key relationships whenever the original information needs to be reconstructed.</a:t>
            </a:r>
            <a:endParaRPr lang="en-US" sz="1650" dirty="0"/>
          </a:p>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The need for normalization arises directly from the practical problems that redundant, poorly designed tables create in real institutions: wasted storage, slower updates, and a serious risk of silent data corruption through inconsistency. The benefits of a properly normalized schema include a substantial reduction in duplicated data, a guarantee that every fact is stored in exactly one place, and a database structure that is far easier for a database administrator to maintain, extend and query correctly as an institution's requirements evolve over time.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320040"/>
          </a:xfrm>
          <a:prstGeom prst="rect">
            <a:avLst/>
          </a:prstGeom>
          <a:noFill/>
          <a:ln/>
        </p:spPr>
        <p:txBody>
          <a:bodyPr wrap="square" rtlCol="0" anchor="ctr"/>
          <a:lstStyle/>
          <a:p>
            <a:pPr indent="0" marL="0">
              <a:buNone/>
            </a:pPr>
            <a:r>
              <a:rPr lang="en-US" sz="1100" b="1" spc="200" kern="0" dirty="0">
                <a:solidFill>
                  <a:srgbClr val="1F4E79"/>
                </a:solidFill>
                <a:latin typeface="Calibri" pitchFamily="34" charset="0"/>
                <a:ea typeface="Calibri" pitchFamily="34" charset="-122"/>
                <a:cs typeface="Calibri" pitchFamily="34" charset="-120"/>
              </a:rPr>
              <a:t>NORMALIZATION AND DATA REDUNDANCY</a:t>
            </a:r>
            <a:endParaRPr lang="en-US" sz="1100" dirty="0"/>
          </a:p>
        </p:txBody>
      </p:sp>
      <p:sp>
        <p:nvSpPr>
          <p:cNvPr id="3" name="Text 1"/>
          <p:cNvSpPr txBox="1"/>
          <p:nvPr/>
        </p:nvSpPr>
        <p:spPr>
          <a:xfrm>
            <a:off x="11247120" y="292608"/>
            <a:ext cx="640080" cy="320040"/>
          </a:xfrm>
          <a:prstGeom prst="rect">
            <a:avLst/>
          </a:prstGeom>
          <a:noFill/>
          <a:ln/>
        </p:spPr>
        <p:txBody>
          <a:bodyPr wrap="square" rtlCol="0" anchor="ctr"/>
          <a:lstStyle/>
          <a:p>
            <a:pPr algn="r" indent="0" marL="0">
              <a:buNone/>
            </a:pPr>
            <a:r>
              <a:rPr lang="en-US" sz="1100" dirty="0">
                <a:solidFill>
                  <a:srgbClr val="999999"/>
                </a:solidFill>
                <a:latin typeface="Calibri" pitchFamily="34" charset="0"/>
                <a:ea typeface="Calibri" pitchFamily="34" charset="-122"/>
                <a:cs typeface="Calibri" pitchFamily="34" charset="-120"/>
              </a:rPr>
              <a:t>3 / 3</a:t>
            </a:r>
            <a:endParaRPr lang="en-US" sz="1100" dirty="0"/>
          </a:p>
        </p:txBody>
      </p:sp>
      <p:sp>
        <p:nvSpPr>
          <p:cNvPr id="4" name="Text 2"/>
          <p:cNvSpPr txBox="1"/>
          <p:nvPr/>
        </p:nvSpPr>
        <p:spPr>
          <a:xfrm>
            <a:off x="548640" y="621792"/>
            <a:ext cx="11064240" cy="868680"/>
          </a:xfrm>
          <a:prstGeom prst="rect">
            <a:avLst/>
          </a:prstGeom>
          <a:noFill/>
          <a:ln/>
        </p:spPr>
        <p:txBody>
          <a:bodyPr wrap="square" lIns="0" tIns="0" rIns="0" bIns="0" rtlCol="0" anchor="ctr"/>
          <a:lstStyle/>
          <a:p>
            <a:pPr indent="0" marL="0">
              <a:buNone/>
            </a:pPr>
            <a:r>
              <a:rPr lang="en-US" sz="2800" b="1" dirty="0">
                <a:solidFill>
                  <a:srgbClr val="1F4E79"/>
                </a:solidFill>
                <a:latin typeface="Cambria" pitchFamily="34" charset="0"/>
                <a:ea typeface="Cambria" pitchFamily="34" charset="-122"/>
                <a:cs typeface="Cambria" pitchFamily="34" charset="-120"/>
              </a:rPr>
              <a:t>Normal Forms: First, Second and Third</a:t>
            </a:r>
            <a:endParaRPr lang="en-US" sz="2800" dirty="0"/>
          </a:p>
        </p:txBody>
      </p:sp>
      <p:sp>
        <p:nvSpPr>
          <p:cNvPr id="5" name="Text 3"/>
          <p:cNvSpPr txBox="1"/>
          <p:nvPr/>
        </p:nvSpPr>
        <p:spPr>
          <a:xfrm>
            <a:off x="548640" y="1645920"/>
            <a:ext cx="11064240" cy="4846320"/>
          </a:xfrm>
          <a:prstGeom prst="rect">
            <a:avLst/>
          </a:prstGeom>
          <a:solidFill>
            <a:srgbClr val="EAF1F8"/>
          </a:solidFill>
          <a:ln w="9525">
            <a:solidFill>
              <a:srgbClr val="EAF1F8"/>
            </a:solidFill>
          </a:ln>
        </p:spPr>
        <p:txBody>
          <a:bodyPr wrap="square" lIns="177800" tIns="177800" rIns="177800" bIns="177800" rtlCol="0" anchor="t"/>
          <a:lstStyle/>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Normalization proceeds through a sequence of normal forms, each one imposing a stricter rule than the one before it. First Normal Form requires that every column of a table hold only a single, atomic value, eliminating repeating groups or multi-valued fields within one row. Second Normal Form applies to tables with a composite primary key and requires that every non-key attribute depend on the entire primary key, not merely on part of it, which removes what is called a partial dependency. Third Normal Form goes further and requires that every non-key attribute depend directly on the primary key and not on another non-key attribute, which removes what is called a transitive dependency.</a:t>
            </a:r>
            <a:endParaRPr lang="en-US" sz="1650" dirty="0"/>
          </a:p>
          <a:p>
            <a:pPr algn="l" indent="0" marL="0">
              <a:lnSpc>
                <a:spcPts val="2200"/>
              </a:lnSpc>
              <a:spcAft>
                <a:spcPts val="1400"/>
              </a:spcAft>
              <a:buNone/>
            </a:pPr>
            <a:r>
              <a:rPr lang="en-US" sz="1650" dirty="0">
                <a:solidFill>
                  <a:srgbClr val="262626"/>
                </a:solidFill>
                <a:latin typeface="Calibri" pitchFamily="34" charset="0"/>
                <a:ea typeface="Calibri" pitchFamily="34" charset="-122"/>
                <a:cs typeface="Calibri" pitchFamily="34" charset="-120"/>
              </a:rPr>
              <a:t>The practical benefit of carrying a schema through these three normal forms is a database design that is largely free of update, insert and delete anomalies, that stores each fact only once, and that remains flexible enough to accommodate new kinds of records without requiring the entire table structure to be redesigned, which is why the first three normal forms are taught as the essential baseline for any well-engineered relational database.</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2026-09-27T11:58:33Z</dcterms:created>
  <dcterms:modified xsi:type="dcterms:W3CDTF">2026-09-27T11:58:33Z</dcterms:modified>
</cp:coreProperties>
</file>