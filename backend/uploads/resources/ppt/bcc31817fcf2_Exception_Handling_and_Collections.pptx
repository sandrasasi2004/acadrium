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320040"/>
          </a:xfrm>
          <a:prstGeom prst="rect">
            <a:avLst/>
          </a:prstGeom>
          <a:noFill/>
          <a:ln/>
        </p:spPr>
        <p:txBody>
          <a:bodyPr wrap="square" rtlCol="0" anchor="ctr"/>
          <a:lstStyle/>
          <a:p>
            <a:pPr indent="0" marL="0">
              <a:buNone/>
            </a:pPr>
            <a:r>
              <a:rPr lang="en-US" sz="1100" b="1" spc="200" kern="0" dirty="0">
                <a:solidFill>
                  <a:srgbClr val="8A3324"/>
                </a:solidFill>
                <a:latin typeface="Calibri" pitchFamily="34" charset="0"/>
                <a:ea typeface="Calibri" pitchFamily="34" charset="-122"/>
                <a:cs typeface="Calibri" pitchFamily="34" charset="-120"/>
              </a:rPr>
              <a:t>EXCEPTION HANDLING AND COLLECTIONS</a:t>
            </a:r>
            <a:endParaRPr lang="en-US" sz="1100" dirty="0"/>
          </a:p>
        </p:txBody>
      </p:sp>
      <p:sp>
        <p:nvSpPr>
          <p:cNvPr id="3" name="Text 1"/>
          <p:cNvSpPr txBox="1"/>
          <p:nvPr/>
        </p:nvSpPr>
        <p:spPr>
          <a:xfrm>
            <a:off x="11247120" y="292608"/>
            <a:ext cx="640080" cy="320040"/>
          </a:xfrm>
          <a:prstGeom prst="rect">
            <a:avLst/>
          </a:prstGeom>
          <a:noFill/>
          <a:ln/>
        </p:spPr>
        <p:txBody>
          <a:bodyPr wrap="square" rtlCol="0" anchor="ctr"/>
          <a:lstStyle/>
          <a:p>
            <a:pPr algn="r" indent="0" marL="0">
              <a:buNone/>
            </a:pPr>
            <a:r>
              <a:rPr lang="en-US" sz="1100" dirty="0">
                <a:solidFill>
                  <a:srgbClr val="999999"/>
                </a:solidFill>
                <a:latin typeface="Calibri" pitchFamily="34" charset="0"/>
                <a:ea typeface="Calibri" pitchFamily="34" charset="-122"/>
                <a:cs typeface="Calibri" pitchFamily="34" charset="-120"/>
              </a:rPr>
              <a:t>1 / 3</a:t>
            </a:r>
            <a:endParaRPr lang="en-US" sz="1100" dirty="0"/>
          </a:p>
        </p:txBody>
      </p:sp>
      <p:sp>
        <p:nvSpPr>
          <p:cNvPr id="4" name="Text 2"/>
          <p:cNvSpPr txBox="1"/>
          <p:nvPr/>
        </p:nvSpPr>
        <p:spPr>
          <a:xfrm>
            <a:off x="548640" y="621792"/>
            <a:ext cx="11064240" cy="868680"/>
          </a:xfrm>
          <a:prstGeom prst="rect">
            <a:avLst/>
          </a:prstGeom>
          <a:noFill/>
          <a:ln/>
        </p:spPr>
        <p:txBody>
          <a:bodyPr wrap="square" lIns="0" tIns="0" rIns="0" bIns="0" rtlCol="0" anchor="ctr"/>
          <a:lstStyle/>
          <a:p>
            <a:pPr indent="0" marL="0">
              <a:buNone/>
            </a:pPr>
            <a:r>
              <a:rPr lang="en-US" sz="2800" b="1" dirty="0">
                <a:solidFill>
                  <a:srgbClr val="8A3324"/>
                </a:solidFill>
                <a:latin typeface="Cambria" pitchFamily="34" charset="0"/>
                <a:ea typeface="Cambria" pitchFamily="34" charset="-122"/>
                <a:cs typeface="Cambria" pitchFamily="34" charset="-120"/>
              </a:rPr>
              <a:t>Exception Handling Overview and Runtime Errors</a:t>
            </a:r>
            <a:endParaRPr lang="en-US" sz="2800" dirty="0"/>
          </a:p>
        </p:txBody>
      </p:sp>
      <p:sp>
        <p:nvSpPr>
          <p:cNvPr id="5" name="Text 3"/>
          <p:cNvSpPr txBox="1"/>
          <p:nvPr/>
        </p:nvSpPr>
        <p:spPr>
          <a:xfrm>
            <a:off x="548640" y="1645920"/>
            <a:ext cx="11064240" cy="4846320"/>
          </a:xfrm>
          <a:prstGeom prst="rect">
            <a:avLst/>
          </a:prstGeom>
          <a:solidFill>
            <a:srgbClr val="F5E9E4"/>
          </a:solidFill>
          <a:ln w="9525">
            <a:solidFill>
              <a:srgbClr val="F5E9E4"/>
            </a:solidFill>
          </a:ln>
        </p:spPr>
        <p:txBody>
          <a:bodyPr wrap="square" lIns="177800" tIns="177800" rIns="177800" bIns="177800" rtlCol="0" anchor="t"/>
          <a:lstStyle/>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An exception in Java is an event that disrupts the normal flow of a program's instructions, typically occurring when something unexpected happens while the program is running, such as dividing a number by zero, attempting to access an array position that does not exist, or trying to open a file that has been deleted. These problems are known as runtime errors because they are detected only while the program is executing, in contrast to compile-time errors, which the Java compiler catches before the program ever runs.</a:t>
            </a:r>
            <a:endParaRPr lang="en-US" sz="1650" dirty="0"/>
          </a:p>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Without a structured way to deal with runtime errors, a single unexpected condition would cause an entire program to terminate abruptly, which is unacceptable for any serious application. Java's exception handling mechanism solves this problem by allowing a programmer to anticipate the parts of a program that are likely to fail, to detect a failure the moment it occurs, and to respond to it in a controlled manner, either by recovering and continuing execution or by shutting down gracefully while reporting a meaningful error message to the user.</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320040"/>
          </a:xfrm>
          <a:prstGeom prst="rect">
            <a:avLst/>
          </a:prstGeom>
          <a:noFill/>
          <a:ln/>
        </p:spPr>
        <p:txBody>
          <a:bodyPr wrap="square" rtlCol="0" anchor="ctr"/>
          <a:lstStyle/>
          <a:p>
            <a:pPr indent="0" marL="0">
              <a:buNone/>
            </a:pPr>
            <a:r>
              <a:rPr lang="en-US" sz="1100" b="1" spc="200" kern="0" dirty="0">
                <a:solidFill>
                  <a:srgbClr val="8A3324"/>
                </a:solidFill>
                <a:latin typeface="Calibri" pitchFamily="34" charset="0"/>
                <a:ea typeface="Calibri" pitchFamily="34" charset="-122"/>
                <a:cs typeface="Calibri" pitchFamily="34" charset="-120"/>
              </a:rPr>
              <a:t>EXCEPTION HANDLING AND COLLECTIONS</a:t>
            </a:r>
            <a:endParaRPr lang="en-US" sz="1100" dirty="0"/>
          </a:p>
        </p:txBody>
      </p:sp>
      <p:sp>
        <p:nvSpPr>
          <p:cNvPr id="3" name="Text 1"/>
          <p:cNvSpPr txBox="1"/>
          <p:nvPr/>
        </p:nvSpPr>
        <p:spPr>
          <a:xfrm>
            <a:off x="11247120" y="292608"/>
            <a:ext cx="640080" cy="320040"/>
          </a:xfrm>
          <a:prstGeom prst="rect">
            <a:avLst/>
          </a:prstGeom>
          <a:noFill/>
          <a:ln/>
        </p:spPr>
        <p:txBody>
          <a:bodyPr wrap="square" rtlCol="0" anchor="ctr"/>
          <a:lstStyle/>
          <a:p>
            <a:pPr algn="r" indent="0" marL="0">
              <a:buNone/>
            </a:pPr>
            <a:r>
              <a:rPr lang="en-US" sz="1100" dirty="0">
                <a:solidFill>
                  <a:srgbClr val="999999"/>
                </a:solidFill>
                <a:latin typeface="Calibri" pitchFamily="34" charset="0"/>
                <a:ea typeface="Calibri" pitchFamily="34" charset="-122"/>
                <a:cs typeface="Calibri" pitchFamily="34" charset="-120"/>
              </a:rPr>
              <a:t>2 / 3</a:t>
            </a:r>
            <a:endParaRPr lang="en-US" sz="1100" dirty="0"/>
          </a:p>
        </p:txBody>
      </p:sp>
      <p:sp>
        <p:nvSpPr>
          <p:cNvPr id="4" name="Text 2"/>
          <p:cNvSpPr txBox="1"/>
          <p:nvPr/>
        </p:nvSpPr>
        <p:spPr>
          <a:xfrm>
            <a:off x="548640" y="621792"/>
            <a:ext cx="11064240" cy="868680"/>
          </a:xfrm>
          <a:prstGeom prst="rect">
            <a:avLst/>
          </a:prstGeom>
          <a:noFill/>
          <a:ln/>
        </p:spPr>
        <p:txBody>
          <a:bodyPr wrap="square" lIns="0" tIns="0" rIns="0" bIns="0" rtlCol="0" anchor="ctr"/>
          <a:lstStyle/>
          <a:p>
            <a:pPr indent="0" marL="0">
              <a:buNone/>
            </a:pPr>
            <a:r>
              <a:rPr lang="en-US" sz="2800" b="1" dirty="0">
                <a:solidFill>
                  <a:srgbClr val="8A3324"/>
                </a:solidFill>
                <a:latin typeface="Cambria" pitchFamily="34" charset="0"/>
                <a:ea typeface="Cambria" pitchFamily="34" charset="-122"/>
                <a:cs typeface="Cambria" pitchFamily="34" charset="-120"/>
              </a:rPr>
              <a:t>Try, Catch, Finally and Exception Types</a:t>
            </a:r>
            <a:endParaRPr lang="en-US" sz="2800" dirty="0"/>
          </a:p>
        </p:txBody>
      </p:sp>
      <p:sp>
        <p:nvSpPr>
          <p:cNvPr id="5" name="Text 3"/>
          <p:cNvSpPr txBox="1"/>
          <p:nvPr/>
        </p:nvSpPr>
        <p:spPr>
          <a:xfrm>
            <a:off x="548640" y="1645920"/>
            <a:ext cx="11064240" cy="4846320"/>
          </a:xfrm>
          <a:prstGeom prst="rect">
            <a:avLst/>
          </a:prstGeom>
          <a:solidFill>
            <a:srgbClr val="F5E9E4"/>
          </a:solidFill>
          <a:ln w="9525">
            <a:solidFill>
              <a:srgbClr val="F5E9E4"/>
            </a:solidFill>
          </a:ln>
        </p:spPr>
        <p:txBody>
          <a:bodyPr wrap="square" lIns="177800" tIns="177800" rIns="177800" bIns="177800" rtlCol="0" anchor="t"/>
          <a:lstStyle/>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Java implements exception handling through the keywords try, catch and finally. Code that might raise a runtime error is placed inside a try block, and if an exception does occur within that block, control immediately transfers to a matching catch block, which contains the code written to recover from that specific type of error. A finally block, which is optional, is placed after the catch blocks and is guaranteed to execute whether or not an exception occurred, making it the ideal place to release resources such as open files or network connections.</a:t>
            </a:r>
            <a:endParaRPr lang="en-US" sz="1650" dirty="0"/>
          </a:p>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Java distinguishes between two broad categories of exceptions. Checked exceptions are error conditions that the compiler forces a programmer to either catch or explicitly declare, because they represent problems, such as a missing file, that a well-written program is expected to anticipate. Unchecked exceptions, which include most programming mistakes such as attempting to use a null reference, are not checked by the compiler and typically indicate a defect in the program's logic rather than an external condition the program should be expected to recover from.</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320040"/>
          </a:xfrm>
          <a:prstGeom prst="rect">
            <a:avLst/>
          </a:prstGeom>
          <a:noFill/>
          <a:ln/>
        </p:spPr>
        <p:txBody>
          <a:bodyPr wrap="square" rtlCol="0" anchor="ctr"/>
          <a:lstStyle/>
          <a:p>
            <a:pPr indent="0" marL="0">
              <a:buNone/>
            </a:pPr>
            <a:r>
              <a:rPr lang="en-US" sz="1100" b="1" spc="200" kern="0" dirty="0">
                <a:solidFill>
                  <a:srgbClr val="8A3324"/>
                </a:solidFill>
                <a:latin typeface="Calibri" pitchFamily="34" charset="0"/>
                <a:ea typeface="Calibri" pitchFamily="34" charset="-122"/>
                <a:cs typeface="Calibri" pitchFamily="34" charset="-120"/>
              </a:rPr>
              <a:t>EXCEPTION HANDLING AND COLLECTIONS</a:t>
            </a:r>
            <a:endParaRPr lang="en-US" sz="1100" dirty="0"/>
          </a:p>
        </p:txBody>
      </p:sp>
      <p:sp>
        <p:nvSpPr>
          <p:cNvPr id="3" name="Text 1"/>
          <p:cNvSpPr txBox="1"/>
          <p:nvPr/>
        </p:nvSpPr>
        <p:spPr>
          <a:xfrm>
            <a:off x="11247120" y="292608"/>
            <a:ext cx="640080" cy="320040"/>
          </a:xfrm>
          <a:prstGeom prst="rect">
            <a:avLst/>
          </a:prstGeom>
          <a:noFill/>
          <a:ln/>
        </p:spPr>
        <p:txBody>
          <a:bodyPr wrap="square" rtlCol="0" anchor="ctr"/>
          <a:lstStyle/>
          <a:p>
            <a:pPr algn="r" indent="0" marL="0">
              <a:buNone/>
            </a:pPr>
            <a:r>
              <a:rPr lang="en-US" sz="1100" dirty="0">
                <a:solidFill>
                  <a:srgbClr val="999999"/>
                </a:solidFill>
                <a:latin typeface="Calibri" pitchFamily="34" charset="0"/>
                <a:ea typeface="Calibri" pitchFamily="34" charset="-122"/>
                <a:cs typeface="Calibri" pitchFamily="34" charset="-120"/>
              </a:rPr>
              <a:t>3 / 3</a:t>
            </a:r>
            <a:endParaRPr lang="en-US" sz="1100" dirty="0"/>
          </a:p>
        </p:txBody>
      </p:sp>
      <p:sp>
        <p:nvSpPr>
          <p:cNvPr id="4" name="Text 2"/>
          <p:cNvSpPr txBox="1"/>
          <p:nvPr/>
        </p:nvSpPr>
        <p:spPr>
          <a:xfrm>
            <a:off x="548640" y="621792"/>
            <a:ext cx="11064240" cy="868680"/>
          </a:xfrm>
          <a:prstGeom prst="rect">
            <a:avLst/>
          </a:prstGeom>
          <a:noFill/>
          <a:ln/>
        </p:spPr>
        <p:txBody>
          <a:bodyPr wrap="square" lIns="0" tIns="0" rIns="0" bIns="0" rtlCol="0" anchor="ctr"/>
          <a:lstStyle/>
          <a:p>
            <a:pPr indent="0" marL="0">
              <a:buNone/>
            </a:pPr>
            <a:r>
              <a:rPr lang="en-US" sz="2800" b="1" dirty="0">
                <a:solidFill>
                  <a:srgbClr val="8A3324"/>
                </a:solidFill>
                <a:latin typeface="Cambria" pitchFamily="34" charset="0"/>
                <a:ea typeface="Cambria" pitchFamily="34" charset="-122"/>
                <a:cs typeface="Cambria" pitchFamily="34" charset="-120"/>
              </a:rPr>
              <a:t>The Collections Framework</a:t>
            </a:r>
            <a:endParaRPr lang="en-US" sz="2800" dirty="0"/>
          </a:p>
        </p:txBody>
      </p:sp>
      <p:sp>
        <p:nvSpPr>
          <p:cNvPr id="5" name="Text 3"/>
          <p:cNvSpPr txBox="1"/>
          <p:nvPr/>
        </p:nvSpPr>
        <p:spPr>
          <a:xfrm>
            <a:off x="548640" y="1645920"/>
            <a:ext cx="11064240" cy="4846320"/>
          </a:xfrm>
          <a:prstGeom prst="rect">
            <a:avLst/>
          </a:prstGeom>
          <a:solidFill>
            <a:srgbClr val="F5E9E4"/>
          </a:solidFill>
          <a:ln w="9525">
            <a:solidFill>
              <a:srgbClr val="F5E9E4"/>
            </a:solidFill>
          </a:ln>
        </p:spPr>
        <p:txBody>
          <a:bodyPr wrap="square" lIns="177800" tIns="177800" rIns="177800" bIns="177800" rtlCol="0" anchor="t"/>
          <a:lstStyle/>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The Java Collections Framework is a unified architecture of interfaces and classes for storing and manipulating groups of objects, and it forms one of the most heavily used parts of the entire Java standard library. The framework is organised around a small number of core interfaces. A List is an ordered collection that permits duplicate elements and allows a program to access any element by its numeric position. A Set is a collection that contains no duplicate elements at all, and is used whenever a program needs to guarantee that every item it stores is unique. A Map stores data as a collection of key-value pairs, allowing a program to look up a value instantly using an associated key rather than searching through the entire collection.</a:t>
            </a:r>
            <a:endParaRPr lang="en-US" sz="1650" dirty="0"/>
          </a:p>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The benefits of the collections framework include a consistent, well-tested set of operations for adding, removing, searching and iterating over data, and a choice of concrete implementations that are optimised for different situations, such as a hash-based implementation for very fast lookup or a linked implementation for fast insertion and removal. These collection types are applied throughout real-world Java applications, from maintaining a shopping cart as a list of items, to storing a set of unique usernames, to mapping student roll numbers to their examination results.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2026-09-27T11:58:33Z</dcterms:created>
  <dcterms:modified xsi:type="dcterms:W3CDTF">2026-09-27T11:58:33Z</dcterms:modified>
</cp:coreProperties>
</file>